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17"/>
  </p:notesMasterIdLst>
  <p:handoutMasterIdLst>
    <p:handoutMasterId r:id="rId18"/>
  </p:handoutMasterIdLst>
  <p:sldIdLst>
    <p:sldId id="298" r:id="rId4"/>
    <p:sldId id="283" r:id="rId5"/>
    <p:sldId id="297" r:id="rId6"/>
    <p:sldId id="300" r:id="rId7"/>
    <p:sldId id="292" r:id="rId8"/>
    <p:sldId id="284" r:id="rId9"/>
    <p:sldId id="304" r:id="rId10"/>
    <p:sldId id="301" r:id="rId11"/>
    <p:sldId id="303" r:id="rId12"/>
    <p:sldId id="302" r:id="rId13"/>
    <p:sldId id="293" r:id="rId14"/>
    <p:sldId id="294" r:id="rId15"/>
    <p:sldId id="296" r:id="rId16"/>
  </p:sldIdLst>
  <p:sldSz cx="12192000" cy="6858000"/>
  <p:notesSz cx="6858000" cy="9144000"/>
  <p:defaultTextStyle>
    <a:defPPr rtl="0"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9" autoAdjust="0"/>
    <p:restoredTop sz="94574" autoAdjust="0"/>
  </p:normalViewPr>
  <p:slideViewPr>
    <p:cSldViewPr snapToGrid="0">
      <p:cViewPr varScale="1">
        <p:scale>
          <a:sx n="113" d="100"/>
          <a:sy n="113" d="100"/>
        </p:scale>
        <p:origin x="162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76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1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 dirty="0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605F6F8-5FA6-46DF-BB02-F43ECCC7D95B}" type="datetime1">
              <a:rPr lang="pl-PL" smtClean="0"/>
              <a:t>2025-06-10</a:t>
            </a:fld>
            <a:endParaRPr lang="pl-PL" dirty="0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 dirty="0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 dirty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965CE9-30C1-43D6-8A95-9B0D502EF4C4}" type="datetime1">
              <a:rPr lang="pl-PL" smtClean="0"/>
              <a:pPr/>
              <a:t>2025-06-10</a:t>
            </a:fld>
            <a:endParaRPr lang="pl-PL" dirty="0"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l-PL" dirty="0"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l-PL" dirty="0"/>
              <a:t>Edytuj style wzorca tekstu</a:t>
            </a:r>
          </a:p>
          <a:p>
            <a:pPr lvl="1" rtl="0"/>
            <a:r>
              <a:rPr lang="pl-PL" dirty="0"/>
              <a:t>Drugi poziom</a:t>
            </a:r>
          </a:p>
          <a:p>
            <a:pPr lvl="2" rtl="0"/>
            <a:r>
              <a:rPr lang="pl-PL" dirty="0"/>
              <a:t>Trzeci poziom</a:t>
            </a:r>
          </a:p>
          <a:p>
            <a:pPr lvl="3" rtl="0"/>
            <a:r>
              <a:rPr lang="pl-PL" dirty="0"/>
              <a:t>Czwarty poziom</a:t>
            </a:r>
          </a:p>
          <a:p>
            <a:pPr lvl="4" rtl="0"/>
            <a:r>
              <a:rPr lang="pl-PL" dirty="0"/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 dirty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pl-PL" smtClean="0"/>
              <a:t>1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027513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pl-PL" smtClean="0"/>
              <a:t>2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425712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pl-PL" smtClean="0"/>
              <a:t>3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302141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AC873-5CFB-3ECB-1F1C-ED1AC5F4B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3F06051C-3669-4FDD-85A8-292BCE700E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73EE23C4-5C6C-AFAB-74E8-2DED660FC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E2085CA-C073-65C2-B4A2-224498484D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pl-PL" smtClean="0"/>
              <a:t>4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369201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pl-PL" smtClean="0"/>
              <a:t>5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020331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pl-PL" smtClean="0"/>
              <a:t>6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059738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2702B-D2ED-62F5-9D66-1F7F170ED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ACD09248-10B4-A885-6AA5-0D6652C26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0CAD88FD-DECD-D4C9-B0BD-7DA075CD8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B11A611-BD5D-1CC5-E883-F444034F61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pl-PL" smtClean="0"/>
              <a:t>7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6591148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AA43F-E09D-6439-DBF0-80E2F883F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6A3B0758-6FB2-4541-2E13-DC81534E0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C86FC127-9D33-A317-0454-8FBD83FB0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452FAC36-3DBD-86E7-E8F0-A0CF125185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pl-PL" smtClean="0"/>
              <a:t>8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726716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8A8C3-7189-384F-B529-BE85A618D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7CEA2529-16D4-44CD-5671-8C2A4B69C9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F9CC5CC7-9611-3549-1451-CFD9C4802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21046C4-CB3E-F533-20F1-24E1B46826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pl-PL" smtClean="0"/>
              <a:t>9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5727814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423CC-EA3B-FE92-4D35-130805A22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FF54AB5E-2A8C-7622-34ED-815B5B802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DA8A36FA-DC73-8DAE-BED0-846D8A83E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3FE4539-D0BB-A0B4-12FC-1905681488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pl-PL" smtClean="0"/>
              <a:t>10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8804612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pl-PL" smtClean="0"/>
              <a:t>11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180512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pl-PL" smtClean="0"/>
              <a:t>12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983023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pl-PL" smtClean="0"/>
              <a:t>13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794666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ajd tytułow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braz — symbol zastępczy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804025"/>
          </a:xfrm>
          <a:solidFill>
            <a:schemeClr val="bg1">
              <a:lumMod val="85000"/>
            </a:schemeClr>
          </a:solidFill>
        </p:spPr>
        <p:txBody>
          <a:bodyPr tIns="1728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l-PL" dirty="0"/>
              <a:t>Tutaj wstaw lub przeciągnij i upuść własne zdjęcie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4100" b="1" spc="-300" dirty="0"/>
            </a:lvl1pPr>
          </a:lstStyle>
          <a:p>
            <a:pPr lvl="0" algn="r" rtl="0"/>
            <a:r>
              <a:rPr lang="pl-PL" dirty="0"/>
              <a:t>Kliknij, aby edytować tytuł prezentacji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 rtl="0"/>
            <a:r>
              <a:rPr lang="pl-PL"/>
              <a:t>Kliknij, aby edytować styl wzorca podtytułu</a:t>
            </a:r>
            <a:endParaRPr lang="pl-PL" dirty="0"/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dirty="0"/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dirty="0"/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dirty="0"/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jd podziału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braz — symbol zastępczy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l-PL" dirty="0"/>
              <a:t>Tutaj wstaw lub przeciągnij i upuść </a:t>
            </a:r>
            <a:br>
              <a:rPr lang="pl-PL" dirty="0"/>
            </a:br>
            <a:r>
              <a:rPr lang="pl-PL" dirty="0"/>
              <a:t>własne zdjęcie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5700" y="2204792"/>
            <a:ext cx="5956300" cy="1944000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4100" b="1" spc="-300" dirty="0"/>
            </a:lvl1pPr>
          </a:lstStyle>
          <a:p>
            <a:pPr lvl="0" algn="r" rtl="0"/>
            <a:r>
              <a:rPr lang="pl-PL" dirty="0"/>
              <a:t>Kliknij, aby edytować podział sekcji</a:t>
            </a:r>
          </a:p>
        </p:txBody>
      </p:sp>
      <p:sp>
        <p:nvSpPr>
          <p:cNvPr id="7" name="Podtytuł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700" y="41488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180000" tIns="180000" rIns="252000" bIns="180000"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dirty="0"/>
              <a:t>Kliknij, aby edytować styl wzorca podtytułu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dirty="0"/>
              <a:t>Dodaj stopkę</a:t>
            </a: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524778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dirty="0"/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dirty="0"/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dirty="0"/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dirty="0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43715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jd podziału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braz — symbol zastępczy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11412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l-PL" dirty="0"/>
              <a:t>Tutaj wstaw lub przeciągnij i upuść </a:t>
            </a:r>
            <a:br>
              <a:rPr lang="pl-PL" dirty="0"/>
            </a:br>
            <a:r>
              <a:rPr lang="pl-PL" dirty="0"/>
              <a:t>własne zdjęcie</a:t>
            </a:r>
          </a:p>
        </p:txBody>
      </p:sp>
      <p:sp>
        <p:nvSpPr>
          <p:cNvPr id="3" name="Tytuł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 rtlCol="0"/>
          <a:lstStyle>
            <a:lvl1pPr>
              <a:defRPr sz="41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pl-PL" dirty="0"/>
              <a:t>Kliknij, aby edytować podział sekcji</a:t>
            </a:r>
          </a:p>
        </p:txBody>
      </p:sp>
      <p:sp>
        <p:nvSpPr>
          <p:cNvPr id="7" name="Podtytuł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107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252000" tIns="180000" rIns="180000" bIns="180000" rtlCol="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dirty="0"/>
              <a:t>Kliknij, aby edytować styl wzorca podtytułu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dirty="0"/>
              <a:t>Dodaj stopkę</a:t>
            </a: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l-PL" dirty="0"/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dirty="0"/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dirty="0"/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dirty="0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28285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az tekstu — ukła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raz — symbol zastępczy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l-PL" dirty="0"/>
              <a:t>Wstaw lub przeciągnij i upuść własne zdjęcie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1800" y="3802899"/>
            <a:ext cx="4648200" cy="985000"/>
          </a:xfrm>
          <a:solidFill>
            <a:schemeClr val="bg1"/>
          </a:solidFill>
        </p:spPr>
        <p:txBody>
          <a:bodyPr lIns="180000" tIns="180000" rIns="180000" bIns="180000" rtlCol="0"/>
          <a:lstStyle>
            <a:lvl1pPr algn="r">
              <a:defRPr sz="41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dirty="0"/>
              <a:t>Edytuj tytuł strony</a:t>
            </a:r>
          </a:p>
        </p:txBody>
      </p:sp>
      <p:sp>
        <p:nvSpPr>
          <p:cNvPr id="10" name="Podtytuł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1800" y="4787900"/>
            <a:ext cx="4648200" cy="1162800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l-PL" dirty="0"/>
              <a:t>Podtytuł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2668686"/>
            <a:ext cx="5472000" cy="2999426"/>
          </a:xfrm>
        </p:spPr>
        <p:txBody>
          <a:bodyPr rtlCol="0"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  <a:endParaRPr lang="pl-PL" dirty="0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pl-PL" dirty="0"/>
              <a:t>Dodaj stopkę</a:t>
            </a:r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1508F53F-6AA2-4060-904A-BC90211DC043}"/>
              </a:ext>
            </a:extLst>
          </p:cNvPr>
          <p:cNvSpPr/>
          <p:nvPr userDrawn="1"/>
        </p:nvSpPr>
        <p:spPr>
          <a:xfrm>
            <a:off x="9348588" y="3700775"/>
            <a:ext cx="2411412" cy="114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az tekstu — ukła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raz — symbol zastępczy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l-PL" dirty="0"/>
              <a:t>Wstaw lub przeciągnij i upuść własne zdjęcie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100" y="1869795"/>
            <a:ext cx="6641900" cy="1124345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 rtlCol="0"/>
          <a:lstStyle>
            <a:lvl1pPr algn="l">
              <a:lnSpc>
                <a:spcPct val="90000"/>
              </a:lnSpc>
              <a:defRPr sz="41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dirty="0"/>
              <a:t>Kliknij, aby edytować tytuł strony</a:t>
            </a:r>
          </a:p>
        </p:txBody>
      </p:sp>
      <p:sp>
        <p:nvSpPr>
          <p:cNvPr id="10" name="Podtytuł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8334" y="2994141"/>
            <a:ext cx="6641626" cy="59015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l-PL" dirty="0"/>
              <a:t>Podtytuł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8000" y="3763648"/>
            <a:ext cx="5472000" cy="2428351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  <a:endParaRPr lang="pl-PL" dirty="0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pl-PL" dirty="0"/>
              <a:t>Dodaj stopkę</a:t>
            </a:r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FA5285E0-8F27-49C4-AADF-92A3B72D41FD}"/>
              </a:ext>
            </a:extLst>
          </p:cNvPr>
          <p:cNvSpPr/>
          <p:nvPr userDrawn="1"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8438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dirty="0"/>
              <a:t>Kliknij, aby edytować tytuł strony</a:t>
            </a:r>
          </a:p>
        </p:txBody>
      </p:sp>
      <p:sp>
        <p:nvSpPr>
          <p:cNvPr id="9" name="Podtytuł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l-PL" dirty="0"/>
              <a:t>Podtytuł</a:t>
            </a:r>
          </a:p>
        </p:txBody>
      </p:sp>
      <p:sp>
        <p:nvSpPr>
          <p:cNvPr id="3" name="Symbol zastępczy po lewej stronie porównania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5834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/>
              <a:t>Kliknij, aby edytować style wzorca tekstu</a:t>
            </a:r>
          </a:p>
        </p:txBody>
      </p:sp>
      <p:sp>
        <p:nvSpPr>
          <p:cNvPr id="4" name="Zawartość — symbol zastępczy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023668"/>
            <a:ext cx="5472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  <a:endParaRPr lang="pl-PL" dirty="0"/>
          </a:p>
        </p:txBody>
      </p:sp>
      <p:sp>
        <p:nvSpPr>
          <p:cNvPr id="12" name="Symbol zastępczy po lewej stronie porównania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516359"/>
            <a:ext cx="5472000" cy="358775"/>
          </a:xfrm>
        </p:spPr>
        <p:txBody>
          <a:bodyPr rtlCol="0"/>
          <a:lstStyle>
            <a:lvl1pPr marL="0" indent="0">
              <a:buNone/>
              <a:defRPr sz="2400" b="1"/>
            </a:lvl1pPr>
          </a:lstStyle>
          <a:p>
            <a:pPr lvl="0" rtl="0"/>
            <a:r>
              <a:rPr lang="pl-PL"/>
              <a:t>Kliknij, aby edytować style wzorca tekstu</a:t>
            </a:r>
          </a:p>
        </p:txBody>
      </p:sp>
      <p:sp>
        <p:nvSpPr>
          <p:cNvPr id="8" name="Tekst — symbol zastępczy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020359"/>
            <a:ext cx="5472113" cy="4170891"/>
          </a:xfrm>
        </p:spPr>
        <p:txBody>
          <a:bodyPr rtlCol="0"/>
          <a:lstStyle/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  <a:endParaRPr lang="pl-PL" dirty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pl-PL" dirty="0"/>
              <a:t>Dodaj stopkę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że zdję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raz — symbol zastępczy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371350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l-PL" dirty="0"/>
              <a:t>Wstaw lub przeciągnij i upuść własne zdjęcie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0" y="5359400"/>
            <a:ext cx="5664000" cy="565899"/>
          </a:xfrm>
          <a:solidFill>
            <a:schemeClr val="tx1"/>
          </a:solidFill>
        </p:spPr>
        <p:txBody>
          <a:bodyPr lIns="180000" tIns="180000" rIns="180000" bIns="180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dirty="0"/>
              <a:t>Wprowadź podpis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pl-PL" dirty="0"/>
              <a:t>Dodaj stopkę</a:t>
            </a:r>
          </a:p>
        </p:txBody>
      </p:sp>
      <p:sp>
        <p:nvSpPr>
          <p:cNvPr id="2" name="Numer slajdu — symbol zastępczy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5" name="Tytuł 4">
            <a:extLst>
              <a:ext uri="{FF2B5EF4-FFF2-40B4-BE49-F238E27FC236}">
                <a16:creationId xmlns:a16="http://schemas.microsoft.com/office/drawing/2014/main" id="{7F8E7C83-06D7-4C5B-85B7-0E5713B4FA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l-PL" dirty="0"/>
              <a:t>Kliknij, aby edytować styl wzorca tytułu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ziękujemy!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braz — symbol zastępczy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102" cy="6804025"/>
          </a:xfrm>
          <a:solidFill>
            <a:schemeClr val="bg1">
              <a:lumMod val="85000"/>
            </a:schemeClr>
          </a:solidFill>
        </p:spPr>
        <p:txBody>
          <a:bodyPr tIns="0"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l-PL" dirty="0"/>
              <a:t>Tutaj wstaw lub przeciągnij i upuść własne zdjęcie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5400" b="1" spc="-300" dirty="0"/>
            </a:lvl1pPr>
          </a:lstStyle>
          <a:p>
            <a:pPr lvl="0" algn="r" rtl="0"/>
            <a:r>
              <a:rPr lang="pl-PL" dirty="0"/>
              <a:t>Dziękujemy!</a:t>
            </a:r>
          </a:p>
        </p:txBody>
      </p:sp>
      <p:sp>
        <p:nvSpPr>
          <p:cNvPr id="9" name="Tekst — symbol zastępczy 5">
            <a:extLst>
              <a:ext uri="{FF2B5EF4-FFF2-40B4-BE49-F238E27FC236}">
                <a16:creationId xmlns:a16="http://schemas.microsoft.com/office/drawing/2014/main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l-PL" dirty="0"/>
              <a:t>Imię i nazwisko</a:t>
            </a:r>
          </a:p>
        </p:txBody>
      </p:sp>
      <p:sp>
        <p:nvSpPr>
          <p:cNvPr id="10" name="Tekst — symbol zastępczy 6">
            <a:extLst>
              <a:ext uri="{FF2B5EF4-FFF2-40B4-BE49-F238E27FC236}">
                <a16:creationId xmlns:a16="http://schemas.microsoft.com/office/drawing/2014/main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306722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l-PL" dirty="0"/>
              <a:t>Numer telefonu</a:t>
            </a:r>
          </a:p>
        </p:txBody>
      </p:sp>
      <p:sp>
        <p:nvSpPr>
          <p:cNvPr id="11" name="Tekst — symbol zastępczy 7">
            <a:extLst>
              <a:ext uri="{FF2B5EF4-FFF2-40B4-BE49-F238E27FC236}">
                <a16:creationId xmlns:a16="http://schemas.microsoft.com/office/drawing/2014/main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820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l-PL" dirty="0"/>
              <a:t>Adres e-mail lub </a:t>
            </a:r>
            <a:r>
              <a:rPr lang="pl-PL" dirty="0" err="1"/>
              <a:t>nick</a:t>
            </a:r>
            <a:r>
              <a:rPr lang="pl-PL" dirty="0"/>
              <a:t> w sieci społecznościowej</a:t>
            </a:r>
          </a:p>
        </p:txBody>
      </p:sp>
      <p:sp>
        <p:nvSpPr>
          <p:cNvPr id="12" name="Tekst — symbol zastępczy 8">
            <a:extLst>
              <a:ext uri="{FF2B5EF4-FFF2-40B4-BE49-F238E27FC236}">
                <a16:creationId xmlns:a16="http://schemas.microsoft.com/office/drawing/2014/main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8200" y="500475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l-PL" dirty="0"/>
              <a:t>Witryna internetowa firmy</a:t>
            </a: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dirty="0"/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dirty="0"/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dirty="0"/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dirty="0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222FB6A7-1E80-487C-93E6-DCAA8751EF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04966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dirty="0"/>
              <a:t>Kliknij, aby edytować tytuł strony</a:t>
            </a:r>
          </a:p>
        </p:txBody>
      </p:sp>
      <p:sp>
        <p:nvSpPr>
          <p:cNvPr id="7" name="Podtytuł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l-PL" dirty="0"/>
              <a:t>Podtytuł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  <a:endParaRPr lang="pl-PL" dirty="0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pl-PL" dirty="0"/>
              <a:t>Dodaj stopkę</a:t>
            </a:r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dirty="0"/>
              <a:t>Kliknij, aby edytować tytuł strony</a:t>
            </a:r>
          </a:p>
        </p:txBody>
      </p:sp>
      <p:sp>
        <p:nvSpPr>
          <p:cNvPr id="7" name="Podtytuł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l-PL" dirty="0"/>
              <a:t>Podtytuł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2000"/>
            <a:ext cx="5472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  <a:endParaRPr lang="pl-PL" dirty="0"/>
          </a:p>
        </p:txBody>
      </p:sp>
      <p:sp>
        <p:nvSpPr>
          <p:cNvPr id="6" name="Tekst — symbol zastępczy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511250"/>
            <a:ext cx="5472113" cy="4680000"/>
          </a:xfrm>
        </p:spPr>
        <p:txBody>
          <a:bodyPr rtlCol="0"/>
          <a:lstStyle/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  <a:endParaRPr lang="pl-PL" dirty="0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pl-PL" dirty="0"/>
              <a:t>Dodaj stopkę</a:t>
            </a:r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dirty="0"/>
              <a:t>Kliknij, aby edytować tytuł strony</a:t>
            </a:r>
          </a:p>
        </p:txBody>
      </p:sp>
      <p:sp>
        <p:nvSpPr>
          <p:cNvPr id="9" name="Podtytuł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l-PL" dirty="0"/>
              <a:t>Podtytuł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  <a:endParaRPr lang="pl-PL" dirty="0"/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1550" y="1511476"/>
            <a:ext cx="3600450" cy="4679249"/>
          </a:xfrm>
        </p:spPr>
        <p:txBody>
          <a:bodyPr rtlCol="0"/>
          <a:lstStyle/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  <a:endParaRPr lang="pl-PL" dirty="0"/>
          </a:p>
        </p:txBody>
      </p:sp>
      <p:sp>
        <p:nvSpPr>
          <p:cNvPr id="11" name="Tekst — symbol zastępczy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1550" y="1511475"/>
            <a:ext cx="3600450" cy="4679250"/>
          </a:xfrm>
        </p:spPr>
        <p:txBody>
          <a:bodyPr rtlCol="0"/>
          <a:lstStyle/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  <a:endParaRPr lang="pl-PL" dirty="0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pl-PL" dirty="0"/>
              <a:t>Dodaj stopkę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dirty="0"/>
              <a:t>Kliknij, aby edytować tytuł strony</a:t>
            </a:r>
          </a:p>
        </p:txBody>
      </p:sp>
      <p:sp>
        <p:nvSpPr>
          <p:cNvPr id="10" name="Podtytuł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l-PL" dirty="0"/>
              <a:t>Podtytuł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  <a:endParaRPr lang="pl-PL" dirty="0"/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 rtlCol="0"/>
          <a:lstStyle/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  <a:endParaRPr lang="pl-PL" dirty="0"/>
          </a:p>
        </p:txBody>
      </p:sp>
      <p:sp>
        <p:nvSpPr>
          <p:cNvPr id="13" name="Tekst — symbol zastępczy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 rtlCol="0"/>
          <a:lstStyle/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  <a:endParaRPr lang="pl-PL" dirty="0"/>
          </a:p>
        </p:txBody>
      </p:sp>
      <p:sp>
        <p:nvSpPr>
          <p:cNvPr id="15" name="Tekst — symbol zastępczy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 rtlCol="0"/>
          <a:lstStyle/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  <a:endParaRPr lang="pl-PL" dirty="0"/>
          </a:p>
        </p:txBody>
      </p:sp>
      <p:sp>
        <p:nvSpPr>
          <p:cNvPr id="17" name="Tekst — symbol zastępczy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 rtlCol="0"/>
          <a:lstStyle/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  <a:endParaRPr lang="pl-PL" dirty="0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pl-PL" dirty="0"/>
              <a:t>Dodaj stopkę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dirty="0"/>
              <a:t>Kliknij, aby edytować tytuł strony</a:t>
            </a:r>
          </a:p>
        </p:txBody>
      </p:sp>
      <p:sp>
        <p:nvSpPr>
          <p:cNvPr id="5" name="Podtytuł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l-PL" dirty="0"/>
              <a:t>Podtytuł</a:t>
            </a:r>
          </a:p>
        </p:txBody>
      </p:sp>
      <p:sp>
        <p:nvSpPr>
          <p:cNvPr id="3" name="Stopka — symbol zastępczy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pl-PL" dirty="0"/>
              <a:t>Dodaj stopkę</a:t>
            </a:r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853CF994-8B2C-443F-B695-7378DD360DA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opka — symbol zastępczy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pl-PL" dirty="0"/>
              <a:t>Dodaj stopkę</a:t>
            </a:r>
          </a:p>
        </p:txBody>
      </p:sp>
      <p:sp>
        <p:nvSpPr>
          <p:cNvPr id="3" name="Numer slajdu — symbol zastępczy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l-PL" dirty="0"/>
              <a:t>Kliknij, aby edytować styl wzorca tytułu</a:t>
            </a:r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3EB0D177-9AA4-42F4-9CD7-CD206217CA6D}"/>
              </a:ext>
            </a:extLst>
          </p:cNvPr>
          <p:cNvSpPr/>
          <p:nvPr userDrawn="1"/>
        </p:nvSpPr>
        <p:spPr>
          <a:xfrm>
            <a:off x="9780101" y="6371351"/>
            <a:ext cx="1979897" cy="43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dirty="0"/>
          </a:p>
        </p:txBody>
      </p:sp>
      <p:sp>
        <p:nvSpPr>
          <p:cNvPr id="28" name="Prostokąt 27">
            <a:extLst>
              <a:ext uri="{FF2B5EF4-FFF2-40B4-BE49-F238E27FC236}">
                <a16:creationId xmlns:a16="http://schemas.microsoft.com/office/drawing/2014/main" id="{C825DB53-D610-4A40-AFDC-EBC47DB613CE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dirty="0"/>
          </a:p>
        </p:txBody>
      </p:sp>
      <p:sp>
        <p:nvSpPr>
          <p:cNvPr id="31" name="Dowolny kształt: Kształt 30">
            <a:extLst>
              <a:ext uri="{FF2B5EF4-FFF2-40B4-BE49-F238E27FC236}">
                <a16:creationId xmlns:a16="http://schemas.microsoft.com/office/drawing/2014/main" id="{C2B9A6A4-83D0-40B1-8B15-964C84BF0705}"/>
              </a:ext>
            </a:extLst>
          </p:cNvPr>
          <p:cNvSpPr/>
          <p:nvPr userDrawn="1"/>
        </p:nvSpPr>
        <p:spPr>
          <a:xfrm>
            <a:off x="0" y="6371351"/>
            <a:ext cx="9780102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dirty="0"/>
          </a:p>
        </p:txBody>
      </p:sp>
      <p:sp>
        <p:nvSpPr>
          <p:cNvPr id="2" name="Tytuł — symbol zastępczy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pl-PL" dirty="0"/>
              <a:t>Kliknij, aby edytować tytuł strony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pl-PL" dirty="0"/>
              <a:t>Edytuj style wzorca tekstu</a:t>
            </a:r>
          </a:p>
          <a:p>
            <a:pPr lvl="1" rtl="0"/>
            <a:r>
              <a:rPr lang="pl-PL" dirty="0"/>
              <a:t>Drugi poziom</a:t>
            </a:r>
          </a:p>
          <a:p>
            <a:pPr lvl="2" rtl="0"/>
            <a:r>
              <a:rPr lang="pl-PL" dirty="0"/>
              <a:t>Trzeci poziom</a:t>
            </a:r>
          </a:p>
          <a:p>
            <a:pPr lvl="3" rtl="0"/>
            <a:r>
              <a:rPr lang="pl-PL" dirty="0"/>
              <a:t>Czwarty poziom</a:t>
            </a:r>
          </a:p>
          <a:p>
            <a:pPr lvl="4" rtl="0"/>
            <a:r>
              <a:rPr lang="pl-PL" dirty="0"/>
              <a:t>Piąty poziom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dirty="0"/>
              <a:t>Dodaj stopkę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fld id="{19B51A1E-902D-48AF-9020-955120F399B6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dirty="0"/>
          </a:p>
        </p:txBody>
      </p:sp>
      <p:sp>
        <p:nvSpPr>
          <p:cNvPr id="29" name="Prostokąt 28">
            <a:extLst>
              <a:ext uri="{FF2B5EF4-FFF2-40B4-BE49-F238E27FC236}">
                <a16:creationId xmlns:a16="http://schemas.microsoft.com/office/drawing/2014/main" id="{9B49670D-8F18-44A8-B217-67B412095C0D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dirty="0"/>
          </a:p>
        </p:txBody>
      </p:sp>
      <p:cxnSp>
        <p:nvCxnSpPr>
          <p:cNvPr id="18" name="Łącznik prosty 17">
            <a:extLst>
              <a:ext uri="{FF2B5EF4-FFF2-40B4-BE49-F238E27FC236}">
                <a16:creationId xmlns:a16="http://schemas.microsoft.com/office/drawing/2014/main" id="{030FA059-EC32-4FFF-9673-48849B2FA43A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371351"/>
            <a:ext cx="121919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6" r:id="rId5"/>
    <p:sldLayoutId id="2147483659" r:id="rId6"/>
    <p:sldLayoutId id="2147483660" r:id="rId7"/>
    <p:sldLayoutId id="2147483664" r:id="rId8"/>
    <p:sldLayoutId id="2147483650" r:id="rId9"/>
    <p:sldLayoutId id="2147483652" r:id="rId10"/>
    <p:sldLayoutId id="2147483656" r:id="rId11"/>
    <p:sldLayoutId id="2147483657" r:id="rId12"/>
    <p:sldLayoutId id="2147483654" r:id="rId13"/>
    <p:sldLayoutId id="2147483655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1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raz — symbol zastępczy 11" descr="Ręce schodzące się razem w kółku">
            <a:extLst>
              <a:ext uri="{FF2B5EF4-FFF2-40B4-BE49-F238E27FC236}">
                <a16:creationId xmlns:a16="http://schemas.microsoft.com/office/drawing/2014/main" id="{AA8A1CBA-9BB5-2246-9F4B-98EAD7C901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ytuł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2820838"/>
            <a:ext cx="8991600" cy="1909068"/>
          </a:xfrm>
        </p:spPr>
        <p:txBody>
          <a:bodyPr rtlCol="0"/>
          <a:lstStyle/>
          <a:p>
            <a:r>
              <a:rPr lang="pl-PL" sz="6000" dirty="0"/>
              <a:t>Klasteryzacja byłych pożyczkobiorców</a:t>
            </a:r>
          </a:p>
        </p:txBody>
      </p:sp>
      <p:sp>
        <p:nvSpPr>
          <p:cNvPr id="4" name="Podtytuł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1812" y="4729906"/>
            <a:ext cx="6580188" cy="580921"/>
          </a:xfrm>
        </p:spPr>
        <p:txBody>
          <a:bodyPr rtlCol="0"/>
          <a:lstStyle/>
          <a:p>
            <a:r>
              <a:rPr lang="pl-PL" dirty="0"/>
              <a:t>Na potrzeby działań marketingowych</a:t>
            </a:r>
          </a:p>
          <a:p>
            <a:endParaRPr lang="pl-PL" dirty="0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A6CA0FC1-32B3-417C-7E5A-27F82A13BFFC}"/>
              </a:ext>
            </a:extLst>
          </p:cNvPr>
          <p:cNvSpPr txBox="1"/>
          <p:nvPr/>
        </p:nvSpPr>
        <p:spPr>
          <a:xfrm>
            <a:off x="10021213" y="6157694"/>
            <a:ext cx="21707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Maciej Andrzejewski</a:t>
            </a:r>
          </a:p>
          <a:p>
            <a:pPr algn="r"/>
            <a:r>
              <a:rPr lang="pl-PL" dirty="0"/>
              <a:t>Piotr Kotłowski</a:t>
            </a:r>
          </a:p>
        </p:txBody>
      </p:sp>
    </p:spTree>
    <p:extLst>
      <p:ext uri="{BB962C8B-B14F-4D97-AF65-F5344CB8AC3E}">
        <p14:creationId xmlns:p14="http://schemas.microsoft.com/office/powerpoint/2010/main" val="398992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746061"/>
            <a:ext cx="5472000" cy="2999426"/>
          </a:xfrm>
        </p:spPr>
        <p:txBody>
          <a:bodyPr rtlCol="0"/>
          <a:lstStyle/>
          <a:p>
            <a:r>
              <a:rPr lang="pl-PL" sz="2400" dirty="0"/>
              <a:t>Konieczność efektywnego segmentowania rynku klientów korzystających z pożyczek w celu zwiększenia skuteczności kampanii marketingowych.</a:t>
            </a:r>
          </a:p>
          <a:p>
            <a:r>
              <a:rPr lang="pl-PL" sz="2400" dirty="0"/>
              <a:t>Zrozumienie potrzeb i preferencji poszczególnych segmentów klientów, co umożliwi bardziej precyzyjne dostosowanie ofert reklamowych.</a:t>
            </a:r>
          </a:p>
        </p:txBody>
      </p:sp>
      <p:pic>
        <p:nvPicPr>
          <p:cNvPr id="9" name="Obraz — symbol zastępczy 8" descr="Ręce dotykające telefonu komórkowego">
            <a:extLst>
              <a:ext uri="{FF2B5EF4-FFF2-40B4-BE49-F238E27FC236}">
                <a16:creationId xmlns:a16="http://schemas.microsoft.com/office/drawing/2014/main" id="{A9A75888-22E3-1D43-9112-DA02186070B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0" name="Prostokąt 19" descr="Blok z akcentem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48588" y="3688075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l-PL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l-PL" sz="4400" dirty="0"/>
              <a:t>Problem biznesowy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pl-PL" dirty="0"/>
              <a:t>Jak lepiej targetować odbiorców reklam związanych z sektorem finansowym?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l-PL" smtClean="0"/>
              <a:pPr/>
              <a:t>2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329746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Obraz — symbol zastępczy 13" descr="Dłoń pisząca na karteczce do przyklejania">
            <a:extLst>
              <a:ext uri="{FF2B5EF4-FFF2-40B4-BE49-F238E27FC236}">
                <a16:creationId xmlns:a16="http://schemas.microsoft.com/office/drawing/2014/main" id="{7E468295-904F-0743-AD06-67DA21353B9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6096000" cy="6371351"/>
          </a:xfrm>
        </p:spPr>
      </p:pic>
      <p:sp>
        <p:nvSpPr>
          <p:cNvPr id="20" name="Prostokąt 19" descr="Blok z akcentem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l-PL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8100" y="1869795"/>
            <a:ext cx="6641900" cy="1124345"/>
          </a:xfrm>
        </p:spPr>
        <p:txBody>
          <a:bodyPr rtlCol="0"/>
          <a:lstStyle/>
          <a:p>
            <a:pPr rtl="0"/>
            <a:r>
              <a:rPr lang="pl-PL" sz="4400" dirty="0"/>
              <a:t>Model segmentacji klientów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pl-PL" dirty="0"/>
              <a:t>W celu rozpoznania grup docelowych reklam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rtlCol="0"/>
          <a:lstStyle/>
          <a:p>
            <a:pPr marL="0" indent="0">
              <a:buNone/>
            </a:pPr>
            <a:r>
              <a:rPr lang="pl-PL" sz="2400" dirty="0"/>
              <a:t>Wykorzystuje dane klientów dotyczące wysokości dochodu, stanu własnościowego miejsca zamieszkania, zawodu, oceny kredytowej, wskaźnika zadłużenia, wysokości raty, kwoty pożyczki i inne.</a:t>
            </a:r>
            <a:endParaRPr lang="pl-PL" sz="1600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l-PL" smtClean="0"/>
              <a:pPr/>
              <a:t>3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722098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C6D64-DEBC-2C50-0DEF-1151B4D3A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5898779-DD72-19A3-B58D-CA3C83008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l-PL" sz="4400" dirty="0"/>
              <a:t>Co to jest, jak  działa i do czego może się przydać?</a:t>
            </a:r>
          </a:p>
        </p:txBody>
      </p:sp>
      <p:sp>
        <p:nvSpPr>
          <p:cNvPr id="12" name="Prostokąt 11" descr="Blok z akcentem z lewej">
            <a:extLst>
              <a:ext uri="{FF2B5EF4-FFF2-40B4-BE49-F238E27FC236}">
                <a16:creationId xmlns:a16="http://schemas.microsoft.com/office/drawing/2014/main" id="{9E288327-B996-623F-2B14-346FF38AB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800" y="1693917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l-PL" dirty="0"/>
          </a:p>
        </p:txBody>
      </p:sp>
      <p:sp>
        <p:nvSpPr>
          <p:cNvPr id="4" name="Tekst — symbol zastępczy 3">
            <a:extLst>
              <a:ext uri="{FF2B5EF4-FFF2-40B4-BE49-F238E27FC236}">
                <a16:creationId xmlns:a16="http://schemas.microsoft.com/office/drawing/2014/main" id="{4A388C1F-0E06-F295-2E8B-832AC725D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2036534"/>
            <a:ext cx="5472000" cy="360000"/>
          </a:xfrm>
        </p:spPr>
        <p:txBody>
          <a:bodyPr rtlCol="0"/>
          <a:lstStyle/>
          <a:p>
            <a:r>
              <a:rPr lang="pl-PL" dirty="0"/>
              <a:t>Jak to działa:</a:t>
            </a:r>
          </a:p>
        </p:txBody>
      </p:sp>
      <p:sp>
        <p:nvSpPr>
          <p:cNvPr id="5" name="Zawartość — symbol zastępczy 4">
            <a:extLst>
              <a:ext uri="{FF2B5EF4-FFF2-40B4-BE49-F238E27FC236}">
                <a16:creationId xmlns:a16="http://schemas.microsoft.com/office/drawing/2014/main" id="{9F24D7F4-3D42-5DF0-AE22-AE41B699BB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544368"/>
            <a:ext cx="5472000" cy="2194694"/>
          </a:xfrm>
        </p:spPr>
        <p:txBody>
          <a:bodyPr rtlCol="0"/>
          <a:lstStyle/>
          <a:p>
            <a:pPr rtl="0"/>
            <a:r>
              <a:rPr lang="pl-PL" dirty="0"/>
              <a:t>Wykorzystaliśmy model uczenia maszynowego (GMM) – czyli algorytm, który samodzielnie analizuje dane i grupuje klientów o podobnych cechach.</a:t>
            </a:r>
          </a:p>
          <a:p>
            <a:pPr rtl="0"/>
            <a:r>
              <a:rPr lang="pl-PL" dirty="0"/>
              <a:t>Model znajduje ukryte wzorce w danych – na przykład klientów o podobnym dochodzie, zadłużeniu czy historii kredytowej.</a:t>
            </a:r>
          </a:p>
          <a:p>
            <a:pPr rtl="0"/>
            <a:r>
              <a:rPr lang="pl-PL" dirty="0"/>
              <a:t>Model sam decyduje, jak najlepiej podzielić klientów na segmenty, analizując wiele cech naraz.</a:t>
            </a:r>
          </a:p>
          <a:p>
            <a:pPr rtl="0"/>
            <a:r>
              <a:rPr lang="pl-PL" dirty="0"/>
              <a:t>Każdy klient trafia do jednego z klastrów – czyli grupy osób o podobnym profilu finansowym i behawioralnym.</a:t>
            </a:r>
          </a:p>
        </p:txBody>
      </p:sp>
      <p:cxnSp>
        <p:nvCxnSpPr>
          <p:cNvPr id="11" name="Łącznik prosty 10" descr="Podział slajdu">
            <a:extLst>
              <a:ext uri="{FF2B5EF4-FFF2-40B4-BE49-F238E27FC236}">
                <a16:creationId xmlns:a16="http://schemas.microsoft.com/office/drawing/2014/main" id="{A0593098-A66B-EBE9-B5E3-C6B2E076D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96000" y="19566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rostokąt 12" descr="Kreska z akcentem z prawej&#10;">
            <a:extLst>
              <a:ext uri="{FF2B5EF4-FFF2-40B4-BE49-F238E27FC236}">
                <a16:creationId xmlns:a16="http://schemas.microsoft.com/office/drawing/2014/main" id="{AFD8B317-5A08-2D32-97E5-D85BD1403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9887" y="1693917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l-PL" dirty="0"/>
          </a:p>
        </p:txBody>
      </p:sp>
      <p:sp>
        <p:nvSpPr>
          <p:cNvPr id="6" name="Tekst — symbol zastępczy 5">
            <a:extLst>
              <a:ext uri="{FF2B5EF4-FFF2-40B4-BE49-F238E27FC236}">
                <a16:creationId xmlns:a16="http://schemas.microsoft.com/office/drawing/2014/main" id="{3FE6026D-B70C-229A-4892-66B8977401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2037059"/>
            <a:ext cx="5472000" cy="358775"/>
          </a:xfrm>
        </p:spPr>
        <p:txBody>
          <a:bodyPr rtlCol="0"/>
          <a:lstStyle/>
          <a:p>
            <a:r>
              <a:rPr lang="pl-PL" dirty="0"/>
              <a:t>Dlaczego to działa i przynosi korzyści:</a:t>
            </a:r>
          </a:p>
        </p:txBody>
      </p:sp>
      <p:sp>
        <p:nvSpPr>
          <p:cNvPr id="7" name="Tekst — symbol zastępczy 6">
            <a:extLst>
              <a:ext uri="{FF2B5EF4-FFF2-40B4-BE49-F238E27FC236}">
                <a16:creationId xmlns:a16="http://schemas.microsoft.com/office/drawing/2014/main" id="{3552D115-9B75-2BE9-49EE-B693006611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541059"/>
            <a:ext cx="5472113" cy="2196041"/>
          </a:xfrm>
        </p:spPr>
        <p:txBody>
          <a:bodyPr rtlCol="0"/>
          <a:lstStyle/>
          <a:p>
            <a:pPr rtl="0"/>
            <a:r>
              <a:rPr lang="pl-PL" dirty="0"/>
              <a:t>Model oparty jest na statystyce i prawdopodobieństwie – ocenia, jak bardzo klient „pasuje” do danej grupy, co zapewnia trafność podziału.</a:t>
            </a:r>
          </a:p>
          <a:p>
            <a:pPr rtl="0"/>
            <a:r>
              <a:rPr lang="pl-PL" dirty="0"/>
              <a:t>Pomaga zrozumieć klientów – każda grupa ma unikalny profil, co pozwala lepiej dopasować ofertę i sposób komunikacji.</a:t>
            </a:r>
          </a:p>
          <a:p>
            <a:pPr rtl="0"/>
            <a:r>
              <a:rPr lang="pl-PL" dirty="0"/>
              <a:t>Zwiększa skuteczność marketingu – celując w odpowiednie grupy, firma może prowadzić bardziej trafne kampanie i lepiej wykorzystać budżet.</a:t>
            </a:r>
          </a:p>
        </p:txBody>
      </p:sp>
      <p:sp>
        <p:nvSpPr>
          <p:cNvPr id="8" name="Numer slajdu — symbol zastępczy 7">
            <a:extLst>
              <a:ext uri="{FF2B5EF4-FFF2-40B4-BE49-F238E27FC236}">
                <a16:creationId xmlns:a16="http://schemas.microsoft.com/office/drawing/2014/main" id="{09DE337C-EA52-5BB1-3646-0693884AADB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pl-PL" smtClean="0"/>
              <a:pPr rtl="0"/>
              <a:t>4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794640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az — symbol zastępczy 10" descr="Biurko z komputerem, telefonem, książkami itp.">
            <a:extLst>
              <a:ext uri="{FF2B5EF4-FFF2-40B4-BE49-F238E27FC236}">
                <a16:creationId xmlns:a16="http://schemas.microsoft.com/office/drawing/2014/main" id="{2E7ADBC3-DECA-9F4C-9289-9E43C727592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ytuł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5700" y="2480732"/>
            <a:ext cx="5956300" cy="1668059"/>
          </a:xfrm>
        </p:spPr>
        <p:txBody>
          <a:bodyPr rtlCol="0"/>
          <a:lstStyle/>
          <a:p>
            <a:pPr rtl="0"/>
            <a:r>
              <a:rPr lang="pl-PL" sz="4400" dirty="0"/>
              <a:t>Jak model podejmuje decyzje?</a:t>
            </a:r>
          </a:p>
        </p:txBody>
      </p:sp>
      <p:sp>
        <p:nvSpPr>
          <p:cNvPr id="14" name="Tekst — symbol zastępczy 13">
            <a:extLst>
              <a:ext uri="{FF2B5EF4-FFF2-40B4-BE49-F238E27FC236}">
                <a16:creationId xmlns:a16="http://schemas.microsoft.com/office/drawing/2014/main" id="{F278402B-CA7D-4F5B-B3FA-ED74AB3CFB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pl-PL" dirty="0"/>
              <a:t>Czyli skąd mamy pewność, że nasz podział jest praktyczny?</a:t>
            </a:r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l-PL" smtClean="0"/>
              <a:pPr rtl="0"/>
              <a:t>5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091674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l-PL" dirty="0"/>
              <a:t>Decyzyjność modelu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7CA42D59-EAD6-4F95-84F1-32A30F05785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pl-PL" dirty="0"/>
              <a:t>Jakie cechy algorytm bierze pod uwagę przy segmentacji?</a:t>
            </a:r>
          </a:p>
        </p:txBody>
      </p:sp>
      <p:sp>
        <p:nvSpPr>
          <p:cNvPr id="12" name="Prostokąt 11" descr="Blok z akcentem z lewej">
            <a:extLst>
              <a:ext uri="{FF2B5EF4-FFF2-40B4-BE49-F238E27FC236}">
                <a16:creationId xmlns:a16="http://schemas.microsoft.com/office/drawing/2014/main" id="{7F65E93D-09FF-42EE-B9DD-750638966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800" y="1579768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l-PL" dirty="0"/>
          </a:p>
        </p:txBody>
      </p:sp>
      <p:sp>
        <p:nvSpPr>
          <p:cNvPr id="5" name="Zawartość — symbol zastępczy 4">
            <a:extLst>
              <a:ext uri="{FF2B5EF4-FFF2-40B4-BE49-F238E27FC236}">
                <a16:creationId xmlns:a16="http://schemas.microsoft.com/office/drawing/2014/main" id="{CEEB3BAE-C0B2-447C-B8BE-96C6BD84D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800" y="1906360"/>
            <a:ext cx="4961466" cy="2194694"/>
          </a:xfrm>
        </p:spPr>
        <p:txBody>
          <a:bodyPr rtlCol="0"/>
          <a:lstStyle/>
          <a:p>
            <a:pPr marL="0" indent="0" rtl="0">
              <a:buNone/>
            </a:pPr>
            <a:r>
              <a:rPr lang="pl-PL" dirty="0"/>
              <a:t>Do analizy istotności poszczególnych cech klientów wykorzystaliśmy algorytm klasyfikacyjny </a:t>
            </a:r>
            <a:r>
              <a:rPr lang="pl-PL" dirty="0" err="1"/>
              <a:t>RandomForest</a:t>
            </a:r>
            <a:r>
              <a:rPr lang="pl-PL" dirty="0"/>
              <a:t>, który zwraca czytelną informację na podstawie jakich cech algorytmy podejmują decyzję o podziale na klasy.</a:t>
            </a:r>
          </a:p>
          <a:p>
            <a:pPr marL="0" indent="0" rtl="0">
              <a:buNone/>
            </a:pPr>
            <a:r>
              <a:rPr lang="pl-PL" dirty="0"/>
              <a:t>W rezultacie, wpływ na kształt segmentów mają następujące cechy:</a:t>
            </a:r>
          </a:p>
          <a:p>
            <a:r>
              <a:rPr lang="pl-PL" dirty="0"/>
              <a:t>wysokość kredytu,</a:t>
            </a:r>
          </a:p>
          <a:p>
            <a:r>
              <a:rPr lang="pl-PL" dirty="0"/>
              <a:t>wysokość dochodu,</a:t>
            </a:r>
          </a:p>
          <a:p>
            <a:r>
              <a:rPr lang="pl-PL" dirty="0"/>
              <a:t>stan własnościowy domu/mieszkania (hipoteka / wynajem / mieszkanie własne),</a:t>
            </a:r>
          </a:p>
          <a:p>
            <a:r>
              <a:rPr lang="pl-PL" dirty="0"/>
              <a:t>przeznaczenie kredytów (np. na wydatki związane z domem).</a:t>
            </a:r>
          </a:p>
        </p:txBody>
      </p:sp>
      <p:cxnSp>
        <p:nvCxnSpPr>
          <p:cNvPr id="11" name="Łącznik prosty 10" descr="Podział slajdu">
            <a:extLst>
              <a:ext uri="{FF2B5EF4-FFF2-40B4-BE49-F238E27FC236}">
                <a16:creationId xmlns:a16="http://schemas.microsoft.com/office/drawing/2014/main" id="{5A563457-1EC8-4978-BCCB-AFD88C9ED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96000" y="23630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Numer slajdu — symbol zastępczy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pl-PL" smtClean="0"/>
              <a:pPr rtl="0"/>
              <a:t>6</a:t>
            </a:fld>
            <a:endParaRPr lang="pl-PL" dirty="0"/>
          </a:p>
        </p:txBody>
      </p:sp>
      <p:pic>
        <p:nvPicPr>
          <p:cNvPr id="17" name="Obraz 16">
            <a:extLst>
              <a:ext uri="{FF2B5EF4-FFF2-40B4-BE49-F238E27FC236}">
                <a16:creationId xmlns:a16="http://schemas.microsoft.com/office/drawing/2014/main" id="{DC7EBA4D-72D7-F145-DE2B-6F087A235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553" y="1818082"/>
            <a:ext cx="6403447" cy="378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837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7B4F9-1509-06C4-800F-33A708B3E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B21BA3D-CD39-B1F4-7527-7D54A7000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l-PL" sz="4400" dirty="0"/>
              <a:t>Co to jest, jak  działa i do czego może się przydać?</a:t>
            </a:r>
          </a:p>
        </p:txBody>
      </p:sp>
      <p:sp>
        <p:nvSpPr>
          <p:cNvPr id="12" name="Prostokąt 11" descr="Blok z akcentem z lewej">
            <a:extLst>
              <a:ext uri="{FF2B5EF4-FFF2-40B4-BE49-F238E27FC236}">
                <a16:creationId xmlns:a16="http://schemas.microsoft.com/office/drawing/2014/main" id="{12A5EBA9-3274-B6E2-E573-6D35F2361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800" y="1693917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l-PL" dirty="0"/>
          </a:p>
        </p:txBody>
      </p:sp>
      <p:sp>
        <p:nvSpPr>
          <p:cNvPr id="4" name="Tekst — symbol zastępczy 3">
            <a:extLst>
              <a:ext uri="{FF2B5EF4-FFF2-40B4-BE49-F238E27FC236}">
                <a16:creationId xmlns:a16="http://schemas.microsoft.com/office/drawing/2014/main" id="{1E8CAE51-5EF5-6148-4A9E-7775768DF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2036534"/>
            <a:ext cx="5472000" cy="360000"/>
          </a:xfrm>
        </p:spPr>
        <p:txBody>
          <a:bodyPr rtlCol="0"/>
          <a:lstStyle/>
          <a:p>
            <a:r>
              <a:rPr lang="pl-PL" dirty="0"/>
              <a:t>Wyniki na zbiorze testowym</a:t>
            </a:r>
          </a:p>
        </p:txBody>
      </p:sp>
      <p:cxnSp>
        <p:nvCxnSpPr>
          <p:cNvPr id="11" name="Łącznik prosty 10" descr="Podział slajdu">
            <a:extLst>
              <a:ext uri="{FF2B5EF4-FFF2-40B4-BE49-F238E27FC236}">
                <a16:creationId xmlns:a16="http://schemas.microsoft.com/office/drawing/2014/main" id="{F2D24A4D-84B0-941F-9B42-EAC1C1D84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740400" y="1965101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rostokąt 12" descr="Kreska z akcentem z prawej&#10;">
            <a:extLst>
              <a:ext uri="{FF2B5EF4-FFF2-40B4-BE49-F238E27FC236}">
                <a16:creationId xmlns:a16="http://schemas.microsoft.com/office/drawing/2014/main" id="{20203F18-D64F-1F39-7246-BFA8DA04B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9887" y="1693917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l-PL" dirty="0"/>
          </a:p>
        </p:txBody>
      </p:sp>
      <p:sp>
        <p:nvSpPr>
          <p:cNvPr id="6" name="Tekst — symbol zastępczy 5">
            <a:extLst>
              <a:ext uri="{FF2B5EF4-FFF2-40B4-BE49-F238E27FC236}">
                <a16:creationId xmlns:a16="http://schemas.microsoft.com/office/drawing/2014/main" id="{1E264CFE-FB63-6B65-30BF-61F9C2D097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2037059"/>
            <a:ext cx="5472000" cy="358775"/>
          </a:xfrm>
        </p:spPr>
        <p:txBody>
          <a:bodyPr rtlCol="0"/>
          <a:lstStyle/>
          <a:p>
            <a:r>
              <a:rPr lang="pl-PL" dirty="0"/>
              <a:t>Wyniki na zbiorze walidacyjnym</a:t>
            </a:r>
          </a:p>
        </p:txBody>
      </p:sp>
      <p:sp>
        <p:nvSpPr>
          <p:cNvPr id="8" name="Numer slajdu — symbol zastępczy 7">
            <a:extLst>
              <a:ext uri="{FF2B5EF4-FFF2-40B4-BE49-F238E27FC236}">
                <a16:creationId xmlns:a16="http://schemas.microsoft.com/office/drawing/2014/main" id="{E62507D4-A9A6-1010-35C5-B445A8860BF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pl-PL" smtClean="0"/>
              <a:pPr rtl="0"/>
              <a:t>7</a:t>
            </a:fld>
            <a:endParaRPr lang="pl-PL" dirty="0"/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0F2A7387-616A-5CA7-99A2-A3DFB1294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00" y="2541059"/>
            <a:ext cx="4830275" cy="3440167"/>
          </a:xfrm>
          <a:prstGeom prst="rect">
            <a:avLst/>
          </a:prstGeom>
        </p:spPr>
      </p:pic>
      <p:pic>
        <p:nvPicPr>
          <p:cNvPr id="18" name="Obraz 17">
            <a:extLst>
              <a:ext uri="{FF2B5EF4-FFF2-40B4-BE49-F238E27FC236}">
                <a16:creationId xmlns:a16="http://schemas.microsoft.com/office/drawing/2014/main" id="{2E621D97-01E2-D3CF-1F2E-8DEB86F17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2738" y="2541059"/>
            <a:ext cx="4726063" cy="3365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873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61970-819E-08F2-F201-619F00357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225413B-225F-1515-3E08-81B389504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l-PL" dirty="0"/>
              <a:t>Najważniejsze cechy klastrów</a:t>
            </a:r>
          </a:p>
        </p:txBody>
      </p:sp>
      <p:sp>
        <p:nvSpPr>
          <p:cNvPr id="8" name="Numer slajdu — symbol zastępczy 7">
            <a:extLst>
              <a:ext uri="{FF2B5EF4-FFF2-40B4-BE49-F238E27FC236}">
                <a16:creationId xmlns:a16="http://schemas.microsoft.com/office/drawing/2014/main" id="{376E8DCA-F48A-7FFF-6F59-F14F6EC1467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pl-PL" smtClean="0"/>
              <a:pPr rtl="0"/>
              <a:t>8</a:t>
            </a:fld>
            <a:endParaRPr lang="pl-PL" dirty="0"/>
          </a:p>
        </p:txBody>
      </p:sp>
      <p:pic>
        <p:nvPicPr>
          <p:cNvPr id="23" name="Obraz 22">
            <a:extLst>
              <a:ext uri="{FF2B5EF4-FFF2-40B4-BE49-F238E27FC236}">
                <a16:creationId xmlns:a16="http://schemas.microsoft.com/office/drawing/2014/main" id="{FE827C7E-9D48-43D1-1CCE-A6BA068FD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46" y="1145765"/>
            <a:ext cx="5924070" cy="2283235"/>
          </a:xfrm>
          <a:prstGeom prst="rect">
            <a:avLst/>
          </a:prstGeom>
        </p:spPr>
      </p:pic>
      <p:pic>
        <p:nvPicPr>
          <p:cNvPr id="4" name="Obraz 3">
            <a:extLst>
              <a:ext uri="{FF2B5EF4-FFF2-40B4-BE49-F238E27FC236}">
                <a16:creationId xmlns:a16="http://schemas.microsoft.com/office/drawing/2014/main" id="{5244D18D-454D-2FC8-76F8-D206431F6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026" y="2473676"/>
            <a:ext cx="5836728" cy="2287998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4D1D8282-E44E-8C81-F8E6-646E6633F0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46" y="3984081"/>
            <a:ext cx="5924070" cy="226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937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4E359-D813-3745-605F-63454E48F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D31930-3E9D-86DA-E688-AF93B6718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l-PL" dirty="0"/>
              <a:t>Najważniejsze cechy klastrów</a:t>
            </a:r>
          </a:p>
        </p:txBody>
      </p:sp>
      <p:sp>
        <p:nvSpPr>
          <p:cNvPr id="8" name="Numer slajdu — symbol zastępczy 7">
            <a:extLst>
              <a:ext uri="{FF2B5EF4-FFF2-40B4-BE49-F238E27FC236}">
                <a16:creationId xmlns:a16="http://schemas.microsoft.com/office/drawing/2014/main" id="{C093B19C-6E2B-C5E1-4B08-9195E6F5873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pl-PL" smtClean="0"/>
              <a:pPr rtl="0"/>
              <a:t>9</a:t>
            </a:fld>
            <a:endParaRPr lang="pl-PL" dirty="0"/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61704ED2-F9EC-6DA2-DD1D-698D0B990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9869" y="3754363"/>
            <a:ext cx="6012261" cy="2413524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9CA551A0-5C93-9062-7900-E6E578605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373" y="1063130"/>
            <a:ext cx="6287448" cy="2275264"/>
          </a:xfrm>
          <a:prstGeom prst="rect">
            <a:avLst/>
          </a:prstGeom>
        </p:spPr>
      </p:pic>
      <p:pic>
        <p:nvPicPr>
          <p:cNvPr id="13" name="Obraz 12">
            <a:extLst>
              <a:ext uri="{FF2B5EF4-FFF2-40B4-BE49-F238E27FC236}">
                <a16:creationId xmlns:a16="http://schemas.microsoft.com/office/drawing/2014/main" id="{E5B4ABFA-7B12-CE0B-5B6F-86250FF30B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79" y="1102870"/>
            <a:ext cx="5568848" cy="223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696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BCED9-239A-141A-69A2-491C59FA3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1DD6DB9-80B9-9F63-689E-2D303F0AE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l-PL" sz="4400" dirty="0"/>
              <a:t>Charakterystyka grup klientów</a:t>
            </a:r>
          </a:p>
        </p:txBody>
      </p:sp>
      <p:sp>
        <p:nvSpPr>
          <p:cNvPr id="12" name="Prostokąt 11" descr="Blok z akcentem z lewej">
            <a:extLst>
              <a:ext uri="{FF2B5EF4-FFF2-40B4-BE49-F238E27FC236}">
                <a16:creationId xmlns:a16="http://schemas.microsoft.com/office/drawing/2014/main" id="{0A0496D9-2DB5-272F-C114-FD5BA5C75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800" y="1693917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l-PL" dirty="0"/>
          </a:p>
        </p:txBody>
      </p:sp>
      <p:sp>
        <p:nvSpPr>
          <p:cNvPr id="4" name="Tekst — symbol zastępczy 3">
            <a:extLst>
              <a:ext uri="{FF2B5EF4-FFF2-40B4-BE49-F238E27FC236}">
                <a16:creationId xmlns:a16="http://schemas.microsoft.com/office/drawing/2014/main" id="{3D13CDA2-0FB2-F8F5-DBF6-25D867D27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2036534"/>
            <a:ext cx="5472000" cy="360000"/>
          </a:xfrm>
        </p:spPr>
        <p:txBody>
          <a:bodyPr rtlCol="0"/>
          <a:lstStyle/>
          <a:p>
            <a:r>
              <a:rPr lang="pl-PL" dirty="0"/>
              <a:t>Grupa 0:</a:t>
            </a:r>
          </a:p>
        </p:txBody>
      </p:sp>
      <p:sp>
        <p:nvSpPr>
          <p:cNvPr id="5" name="Zawartość — symbol zastępczy 4">
            <a:extLst>
              <a:ext uri="{FF2B5EF4-FFF2-40B4-BE49-F238E27FC236}">
                <a16:creationId xmlns:a16="http://schemas.microsoft.com/office/drawing/2014/main" id="{68FE01B5-18A0-5863-24E9-977C26F01D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544368"/>
            <a:ext cx="3403400" cy="2194694"/>
          </a:xfrm>
        </p:spPr>
        <p:txBody>
          <a:bodyPr rtlCol="0"/>
          <a:lstStyle/>
          <a:p>
            <a:pPr rtl="0"/>
            <a:r>
              <a:rPr lang="pl-PL" dirty="0"/>
              <a:t>Najwyższe kwoty dochodów i pożyczek</a:t>
            </a:r>
          </a:p>
          <a:p>
            <a:pPr rtl="0"/>
            <a:r>
              <a:rPr lang="pl-PL" dirty="0"/>
              <a:t>Klienci zarówno z hipoteką, jak i wynajmujący mieszkania</a:t>
            </a:r>
          </a:p>
          <a:p>
            <a:pPr rtl="0"/>
            <a:r>
              <a:rPr lang="pl-PL" dirty="0"/>
              <a:t>Częste kredyty na ulepszenia domów</a:t>
            </a:r>
          </a:p>
          <a:p>
            <a:pPr rtl="0"/>
            <a:r>
              <a:rPr lang="pl-PL" dirty="0"/>
              <a:t>Potencjał do ofert </a:t>
            </a:r>
            <a:r>
              <a:rPr lang="pl-PL" dirty="0" err="1"/>
              <a:t>premium</a:t>
            </a:r>
            <a:r>
              <a:rPr lang="pl-PL" dirty="0"/>
              <a:t> i większych produktów finansowych</a:t>
            </a:r>
          </a:p>
        </p:txBody>
      </p:sp>
      <p:cxnSp>
        <p:nvCxnSpPr>
          <p:cNvPr id="11" name="Łącznik prosty 10" descr="Podział slajdu">
            <a:extLst>
              <a:ext uri="{FF2B5EF4-FFF2-40B4-BE49-F238E27FC236}">
                <a16:creationId xmlns:a16="http://schemas.microsoft.com/office/drawing/2014/main" id="{2ACF313E-E172-60AF-41B5-C4F90260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962400" y="1959656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rostokąt 12" descr="Kreska z akcentem z prawej&#10;">
            <a:extLst>
              <a:ext uri="{FF2B5EF4-FFF2-40B4-BE49-F238E27FC236}">
                <a16:creationId xmlns:a16="http://schemas.microsoft.com/office/drawing/2014/main" id="{79253852-7CC7-4B9A-9F05-F5FF44988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42487" y="1693917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l-PL" dirty="0"/>
          </a:p>
        </p:txBody>
      </p:sp>
      <p:sp>
        <p:nvSpPr>
          <p:cNvPr id="6" name="Tekst — symbol zastępczy 5">
            <a:extLst>
              <a:ext uri="{FF2B5EF4-FFF2-40B4-BE49-F238E27FC236}">
                <a16:creationId xmlns:a16="http://schemas.microsoft.com/office/drawing/2014/main" id="{729599C2-A78A-EFC7-BFD2-62294AEF4A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00700" y="2087704"/>
            <a:ext cx="5472000" cy="358775"/>
          </a:xfrm>
        </p:spPr>
        <p:txBody>
          <a:bodyPr rtlCol="0"/>
          <a:lstStyle/>
          <a:p>
            <a:r>
              <a:rPr lang="pl-PL" dirty="0"/>
              <a:t>Grupa 1:</a:t>
            </a:r>
          </a:p>
        </p:txBody>
      </p:sp>
      <p:sp>
        <p:nvSpPr>
          <p:cNvPr id="7" name="Tekst — symbol zastępczy 6">
            <a:extLst>
              <a:ext uri="{FF2B5EF4-FFF2-40B4-BE49-F238E27FC236}">
                <a16:creationId xmlns:a16="http://schemas.microsoft.com/office/drawing/2014/main" id="{3E167865-2BC6-977E-F099-7BFB38D945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41801" y="2543021"/>
            <a:ext cx="3682999" cy="2196041"/>
          </a:xfrm>
        </p:spPr>
        <p:txBody>
          <a:bodyPr rtlCol="0"/>
          <a:lstStyle/>
          <a:p>
            <a:pPr rtl="0"/>
            <a:r>
              <a:rPr lang="pl-PL" dirty="0"/>
              <a:t>Średnie dochody i wielkości kredytów</a:t>
            </a:r>
          </a:p>
          <a:p>
            <a:pPr rtl="0"/>
            <a:r>
              <a:rPr lang="pl-PL" dirty="0"/>
              <a:t>Głównie posiadacze hipotek, część z własnością</a:t>
            </a:r>
          </a:p>
          <a:p>
            <a:pPr rtl="0"/>
            <a:r>
              <a:rPr lang="pl-PL" dirty="0"/>
              <a:t>Również zainteresowani finansowaniem remontów</a:t>
            </a:r>
          </a:p>
          <a:p>
            <a:pPr rtl="0"/>
            <a:r>
              <a:rPr lang="pl-PL" dirty="0"/>
              <a:t>Grupa o ustabilizowanej sytuacji finansowej</a:t>
            </a:r>
          </a:p>
        </p:txBody>
      </p:sp>
      <p:sp>
        <p:nvSpPr>
          <p:cNvPr id="8" name="Numer slajdu — symbol zastępczy 7">
            <a:extLst>
              <a:ext uri="{FF2B5EF4-FFF2-40B4-BE49-F238E27FC236}">
                <a16:creationId xmlns:a16="http://schemas.microsoft.com/office/drawing/2014/main" id="{CC0C10E1-D300-473F-8428-B62F2755E23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pl-PL" smtClean="0"/>
              <a:pPr rtl="0"/>
              <a:t>10</a:t>
            </a:fld>
            <a:endParaRPr lang="pl-PL" dirty="0"/>
          </a:p>
        </p:txBody>
      </p:sp>
      <p:cxnSp>
        <p:nvCxnSpPr>
          <p:cNvPr id="3" name="Łącznik prosty 2" descr="Podział slajdu">
            <a:extLst>
              <a:ext uri="{FF2B5EF4-FFF2-40B4-BE49-F238E27FC236}">
                <a16:creationId xmlns:a16="http://schemas.microsoft.com/office/drawing/2014/main" id="{CEAEF8B7-73EA-21CD-DCD3-2D33F7263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043335" y="2036534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kst — symbol zastępczy 5">
            <a:extLst>
              <a:ext uri="{FF2B5EF4-FFF2-40B4-BE49-F238E27FC236}">
                <a16:creationId xmlns:a16="http://schemas.microsoft.com/office/drawing/2014/main" id="{63602DB4-7BDB-C88F-F033-F5B42FC47F50}"/>
              </a:ext>
            </a:extLst>
          </p:cNvPr>
          <p:cNvSpPr txBox="1">
            <a:spLocks/>
          </p:cNvSpPr>
          <p:nvPr/>
        </p:nvSpPr>
        <p:spPr>
          <a:xfrm>
            <a:off x="8139300" y="2087704"/>
            <a:ext cx="3914403" cy="3587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Grupa 2:</a:t>
            </a:r>
          </a:p>
        </p:txBody>
      </p:sp>
      <p:sp>
        <p:nvSpPr>
          <p:cNvPr id="10" name="Prostokąt 9" descr="Kreska z akcentem z prawej&#10;">
            <a:extLst>
              <a:ext uri="{FF2B5EF4-FFF2-40B4-BE49-F238E27FC236}">
                <a16:creationId xmlns:a16="http://schemas.microsoft.com/office/drawing/2014/main" id="{48B9D3B3-CFA6-7E17-B588-DDC795E3C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9300" y="1691185"/>
            <a:ext cx="1984175" cy="114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l-PL" dirty="0"/>
          </a:p>
        </p:txBody>
      </p:sp>
      <p:sp>
        <p:nvSpPr>
          <p:cNvPr id="14" name="Tekst — symbol zastępczy 6">
            <a:extLst>
              <a:ext uri="{FF2B5EF4-FFF2-40B4-BE49-F238E27FC236}">
                <a16:creationId xmlns:a16="http://schemas.microsoft.com/office/drawing/2014/main" id="{F03B2692-3F43-8011-9DBD-48BE766098A4}"/>
              </a:ext>
            </a:extLst>
          </p:cNvPr>
          <p:cNvSpPr txBox="1">
            <a:spLocks/>
          </p:cNvSpPr>
          <p:nvPr/>
        </p:nvSpPr>
        <p:spPr>
          <a:xfrm>
            <a:off x="8139300" y="2497649"/>
            <a:ext cx="3682999" cy="21960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Najniższe kwoty dochodów i pożyczek</a:t>
            </a:r>
          </a:p>
          <a:p>
            <a:r>
              <a:rPr lang="pl-PL" dirty="0"/>
              <a:t>Wszyscy wynajmują domy/mieszkania</a:t>
            </a:r>
          </a:p>
          <a:p>
            <a:r>
              <a:rPr lang="pl-PL" dirty="0"/>
              <a:t>Wiele pożyczek na „inne” cele – prawdopodobnie codzienne wydatki</a:t>
            </a:r>
          </a:p>
          <a:p>
            <a:r>
              <a:rPr lang="pl-PL" dirty="0"/>
              <a:t>Wrażliwa grupa – warto rozważyć oferty niskiego ryzyka i edukację finansową</a:t>
            </a:r>
          </a:p>
        </p:txBody>
      </p:sp>
    </p:spTree>
    <p:extLst>
      <p:ext uri="{BB962C8B-B14F-4D97-AF65-F5344CB8AC3E}">
        <p14:creationId xmlns:p14="http://schemas.microsoft.com/office/powerpoint/2010/main" val="3270937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Obraz — symbol zastępczy 22" descr="Kobieta przy laptopie uśmiechająca się">
            <a:extLst>
              <a:ext uri="{FF2B5EF4-FFF2-40B4-BE49-F238E27FC236}">
                <a16:creationId xmlns:a16="http://schemas.microsoft.com/office/drawing/2014/main" id="{35E3CE9E-B03C-CB4B-A83A-D3265C7A054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ytuł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00" y="2624574"/>
            <a:ext cx="4903599" cy="1160026"/>
          </a:xfrm>
        </p:spPr>
        <p:txBody>
          <a:bodyPr rtlCol="0"/>
          <a:lstStyle/>
          <a:p>
            <a:pPr rtl="0"/>
            <a:r>
              <a:rPr lang="pl-PL" sz="4400" spc="-350" dirty="0"/>
              <a:t>Niezależna walidacja</a:t>
            </a:r>
          </a:p>
        </p:txBody>
      </p:sp>
      <p:sp>
        <p:nvSpPr>
          <p:cNvPr id="10" name="Tekst — symbol zastępczy 9">
            <a:extLst>
              <a:ext uri="{FF2B5EF4-FFF2-40B4-BE49-F238E27FC236}">
                <a16:creationId xmlns:a16="http://schemas.microsoft.com/office/drawing/2014/main" id="{2972F17A-D965-40B9-8ABB-C634072DBC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3784600"/>
            <a:ext cx="4902200" cy="1426725"/>
          </a:xfrm>
        </p:spPr>
        <p:txBody>
          <a:bodyPr rtlCol="0"/>
          <a:lstStyle/>
          <a:p>
            <a:r>
              <a:rPr lang="pl-PL" sz="1600" dirty="0"/>
              <a:t>Nad budową modelu czuwał niezależny zespół ekspertów, który oceniał jakość stosowanych rozwiązań oraz sugerował zmiany, które doprowadziły do powstania modelu o jak największej wydajności. </a:t>
            </a:r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F6964141-6F81-4947-A236-746D94ED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l-PL" smtClean="0"/>
              <a:pPr rtl="0"/>
              <a:t>11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117695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23FB4D5-DA14-4F29-9320-2DE0A6B57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l-PL" dirty="0"/>
              <a:t>Potencjalne korzyści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00A34EBD-7DEA-4599-A81B-0A363A0E17F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pl-PL" smtClean="0"/>
              <a:pPr rtl="0"/>
              <a:t>12</a:t>
            </a:fld>
            <a:endParaRPr lang="pl-PL" dirty="0"/>
          </a:p>
        </p:txBody>
      </p:sp>
      <p:sp>
        <p:nvSpPr>
          <p:cNvPr id="12" name="Zawartość — symbol zastępczy 4">
            <a:extLst>
              <a:ext uri="{FF2B5EF4-FFF2-40B4-BE49-F238E27FC236}">
                <a16:creationId xmlns:a16="http://schemas.microsoft.com/office/drawing/2014/main" id="{6CC2C337-59AD-4DA9-2A4E-2FC73C7993A9}"/>
              </a:ext>
            </a:extLst>
          </p:cNvPr>
          <p:cNvSpPr txBox="1">
            <a:spLocks/>
          </p:cNvSpPr>
          <p:nvPr/>
        </p:nvSpPr>
        <p:spPr>
          <a:xfrm>
            <a:off x="279599" y="1170584"/>
            <a:ext cx="5494667" cy="4516832"/>
          </a:xfrm>
          <a:prstGeom prst="rect">
            <a:avLst/>
          </a:prstGeom>
        </p:spPr>
        <p:txBody>
          <a:bodyPr rtlCol="0"/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b="1" dirty="0"/>
              <a:t>Lepsze dopasowanie ofert</a:t>
            </a:r>
            <a:br>
              <a:rPr lang="pl-PL" dirty="0"/>
            </a:br>
            <a:r>
              <a:rPr lang="pl-PL" dirty="0"/>
              <a:t>– Możliwość tworzenia dedykowanych kampanii marketingowych dla każdego klastra.</a:t>
            </a:r>
            <a:br>
              <a:rPr lang="pl-PL" dirty="0"/>
            </a:br>
            <a:r>
              <a:rPr lang="pl-PL" dirty="0"/>
              <a:t>– Wyższe zainteresowanie produktami finansowymi dzięki personalizacji.</a:t>
            </a:r>
          </a:p>
          <a:p>
            <a:r>
              <a:rPr lang="pl-PL" b="1" dirty="0"/>
              <a:t>Większa skuteczność kampanii</a:t>
            </a:r>
            <a:br>
              <a:rPr lang="pl-PL" dirty="0"/>
            </a:br>
            <a:r>
              <a:rPr lang="pl-PL" dirty="0"/>
              <a:t>– Lepsze </a:t>
            </a:r>
            <a:r>
              <a:rPr lang="pl-PL" dirty="0" err="1"/>
              <a:t>targetowanie</a:t>
            </a:r>
            <a:r>
              <a:rPr lang="pl-PL" dirty="0"/>
              <a:t> → niższe koszty reklamy i wyższy współczynnik konwersji.</a:t>
            </a:r>
          </a:p>
          <a:p>
            <a:r>
              <a:rPr lang="pl-PL" b="1" dirty="0"/>
              <a:t>Wzrost lojalności klientów</a:t>
            </a:r>
            <a:br>
              <a:rPr lang="pl-PL" dirty="0"/>
            </a:br>
            <a:r>
              <a:rPr lang="pl-PL" dirty="0"/>
              <a:t>– Klienci czują się lepiej zrozumiani i bardziej związani z marką.</a:t>
            </a:r>
          </a:p>
          <a:p>
            <a:r>
              <a:rPr lang="pl-PL" b="1"/>
              <a:t>Efektywniejsze </a:t>
            </a:r>
            <a:r>
              <a:rPr lang="pl-PL" b="1" dirty="0"/>
              <a:t>zarządzanie ryzykiem</a:t>
            </a:r>
            <a:br>
              <a:rPr lang="pl-PL" dirty="0"/>
            </a:br>
            <a:r>
              <a:rPr lang="pl-PL" dirty="0"/>
              <a:t>– Możliwość oceny profilu ryzyka dla każdej grupy – np. klaster 2 może wymagać ostrożniejszych ofert.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0D4FF252-57FF-8CCD-420B-601DEABDD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200" y="2180362"/>
            <a:ext cx="5994201" cy="357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0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raz — symbol zastępczy 31" descr="klaszczące ręce">
            <a:extLst>
              <a:ext uri="{FF2B5EF4-FFF2-40B4-BE49-F238E27FC236}">
                <a16:creationId xmlns:a16="http://schemas.microsoft.com/office/drawing/2014/main" id="{AAB6EE12-FEF8-FB41-A909-0DA61D7725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Tytuł 13">
            <a:extLst>
              <a:ext uri="{FF2B5EF4-FFF2-40B4-BE49-F238E27FC236}">
                <a16:creationId xmlns:a16="http://schemas.microsoft.com/office/drawing/2014/main" id="{6C38D7A9-9299-4108-BB08-026F4B9CAE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pl-PL" dirty="0"/>
              <a:t>Dziękujemy!</a:t>
            </a:r>
          </a:p>
        </p:txBody>
      </p:sp>
      <p:sp>
        <p:nvSpPr>
          <p:cNvPr id="12" name="Numer slajdu — symbol zastępczy 11">
            <a:extLst>
              <a:ext uri="{FF2B5EF4-FFF2-40B4-BE49-F238E27FC236}">
                <a16:creationId xmlns:a16="http://schemas.microsoft.com/office/drawing/2014/main" id="{91814EC9-246A-4C6E-941E-5774FE72F08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l-PL" smtClean="0"/>
              <a:pPr rtl="0"/>
              <a:t>13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9">
      <a:majorFont>
        <a:latin typeface="Corbel"/>
        <a:ea typeface=""/>
        <a:cs typeface=""/>
      </a:majorFont>
      <a:minorFont>
        <a:latin typeface="Canda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9716414_TF16411250.potx" id="{482CC0A0-17F1-49AD-8E7D-4F8D32618043}" vid="{C0060354-2FDD-402D-95A0-9400E98DA428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9" ma:contentTypeDescription="Create a new document." ma:contentTypeScope="" ma:versionID="76e25e1730b4532ab1d5e5b131a96a5a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d1e9281a84c4949647088091c718de3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B64A4C9D-F801-4923-BC6D-E0006F5123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B2218FC-8412-44B9-9E82-D51F1F531141}">
  <ds:schemaRefs>
    <ds:schemaRef ds:uri="http://purl.org/dc/elements/1.1/"/>
    <ds:schemaRef ds:uri="http://schemas.microsoft.com/sharepoint/v3"/>
    <ds:schemaRef ds:uri="http://schemas.microsoft.com/office/2006/documentManagement/types"/>
    <ds:schemaRef ds:uri="fb0879af-3eba-417a-a55a-ffe6dcd6ca77"/>
    <ds:schemaRef ds:uri="http://schemas.microsoft.com/office/2006/metadata/properties"/>
    <ds:schemaRef ds:uri="http://schemas.microsoft.com/office/infopath/2007/PartnerControls"/>
    <ds:schemaRef ds:uri="6dc4bcd6-49db-4c07-9060-8acfc67cef9f"/>
    <ds:schemaRef ds:uri="http://www.w3.org/XML/1998/namespace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{4B63FB61-1957-410A-9C45-0D32AD527032}tf16411250_win32</Template>
  <TotalTime>62</TotalTime>
  <Words>603</Words>
  <Application>Microsoft Office PowerPoint</Application>
  <PresentationFormat>Panoramiczny</PresentationFormat>
  <Paragraphs>85</Paragraphs>
  <Slides>13</Slides>
  <Notes>13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13</vt:i4>
      </vt:variant>
    </vt:vector>
  </HeadingPairs>
  <TitlesOfParts>
    <vt:vector size="19" baseType="lpstr">
      <vt:lpstr>Arial</vt:lpstr>
      <vt:lpstr>Calibri</vt:lpstr>
      <vt:lpstr>Candara</vt:lpstr>
      <vt:lpstr>Corbel</vt:lpstr>
      <vt:lpstr>Times New Roman</vt:lpstr>
      <vt:lpstr>Motyw pakietu Office</vt:lpstr>
      <vt:lpstr>Klasteryzacja byłych pożyczkobiorców</vt:lpstr>
      <vt:lpstr>Problem biznesowy</vt:lpstr>
      <vt:lpstr>Model segmentacji klientów</vt:lpstr>
      <vt:lpstr>Co to jest, jak  działa i do czego może się przydać?</vt:lpstr>
      <vt:lpstr>Jak model podejmuje decyzje?</vt:lpstr>
      <vt:lpstr>Decyzyjność modelu</vt:lpstr>
      <vt:lpstr>Co to jest, jak  działa i do czego może się przydać?</vt:lpstr>
      <vt:lpstr>Najważniejsze cechy klastrów</vt:lpstr>
      <vt:lpstr>Najważniejsze cechy klastrów</vt:lpstr>
      <vt:lpstr>Charakterystyka grup klientów</vt:lpstr>
      <vt:lpstr>Niezależna walidacja</vt:lpstr>
      <vt:lpstr>Potencjalne korzyści</vt:lpstr>
      <vt:lpstr>Dziękujemy!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Andrzejewski Maciej (STUD)</dc:creator>
  <cp:lastModifiedBy>Andrzejewski Maciej (STUD)</cp:lastModifiedBy>
  <cp:revision>9</cp:revision>
  <dcterms:created xsi:type="dcterms:W3CDTF">2025-06-09T11:28:32Z</dcterms:created>
  <dcterms:modified xsi:type="dcterms:W3CDTF">2025-06-10T11:03:23Z</dcterms:modified>
</cp:coreProperties>
</file>